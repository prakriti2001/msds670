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58" r:id="rId7"/>
    <p:sldId id="259" r:id="rId8"/>
    <p:sldId id="260" r:id="rId9"/>
    <p:sldId id="263" r:id="rId10"/>
    <p:sldId id="261" r:id="rId11"/>
    <p:sldId id="257" r:id="rId12"/>
    <p:sldId id="262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3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AD630B4-4CCC-7B1D-1803-DAED942D7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 on light leak blurry background">
            <a:extLst>
              <a:ext uri="{FF2B5EF4-FFF2-40B4-BE49-F238E27FC236}">
                <a16:creationId xmlns:a16="http://schemas.microsoft.com/office/drawing/2014/main" id="{515166A3-2F20-0EDC-240C-2D13F41C16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9666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86450" cy="3204429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b="1" dirty="0">
                <a:solidFill>
                  <a:srgbClr val="FFFFFF"/>
                </a:solidFill>
              </a:rPr>
              <a:t>Sales Data Visualization Analysis</a:t>
            </a:r>
            <a:br>
              <a:rPr lang="en-US" sz="3500" dirty="0">
                <a:solidFill>
                  <a:srgbClr val="FFFFFF"/>
                </a:solidFill>
              </a:rPr>
            </a:b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b="1" dirty="0">
                <a:solidFill>
                  <a:srgbClr val="FFFFFF"/>
                </a:solidFill>
              </a:rPr>
              <a:t>Week 8 Final Project</a:t>
            </a:r>
            <a:br>
              <a:rPr lang="en-US" sz="3500" dirty="0">
                <a:solidFill>
                  <a:srgbClr val="FFFFFF"/>
                </a:solidFill>
              </a:rPr>
            </a:br>
            <a:br>
              <a:rPr lang="en-US" sz="3500" dirty="0">
                <a:solidFill>
                  <a:srgbClr val="FFFFFF"/>
                </a:solidFill>
              </a:rPr>
            </a:br>
            <a:endParaRPr lang="en-US" sz="35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4341863"/>
            <a:ext cx="4000500" cy="154009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Submitted By: Prakriti Dahal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Submitted To: John Koenig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Date: 3/6/2026</a:t>
            </a:r>
          </a:p>
          <a:p>
            <a:pPr algn="l"/>
            <a:endParaRPr lang="en-US" sz="1600" dirty="0">
              <a:solidFill>
                <a:srgbClr val="FFFFFF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9264613-F0F7-08CE-0ADF-98407A64D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036"/>
            <a:ext cx="3064248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Problem / Situation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551176"/>
            <a:ext cx="3064248" cy="3591207"/>
          </a:xfrm>
        </p:spPr>
        <p:txBody>
          <a:bodyPr>
            <a:normAutofit/>
          </a:bodyPr>
          <a:lstStyle/>
          <a:p>
            <a:r>
              <a:rPr lang="en-US" sz="1600" dirty="0"/>
              <a:t>Retail stores collect a lot of transaction data.</a:t>
            </a:r>
          </a:p>
          <a:p>
            <a:endParaRPr lang="en-US" sz="1600" dirty="0"/>
          </a:p>
          <a:p>
            <a:r>
              <a:rPr lang="en-US" sz="1600" dirty="0"/>
              <a:t>However, raw numbers alone do not explain what is happening in the business.</a:t>
            </a:r>
          </a:p>
          <a:p>
            <a:endParaRPr lang="en-US" sz="1600" dirty="0"/>
          </a:p>
          <a:p>
            <a:r>
              <a:rPr lang="en-US" sz="1600" dirty="0"/>
              <a:t>By analyzing and visualizing the data, we can better understand sales patterns, product performance, and profitability.</a:t>
            </a:r>
          </a:p>
          <a:p>
            <a:endParaRPr lang="en-US" sz="1700" dirty="0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F9523F22-D70D-986D-F466-4E1CBF1DE5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00" r="25151" b="-1"/>
          <a:stretch>
            <a:fillRect/>
          </a:stretch>
        </p:blipFill>
        <p:spPr>
          <a:xfrm>
            <a:off x="4238244" y="10"/>
            <a:ext cx="49057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9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036"/>
            <a:ext cx="3064248" cy="720258"/>
          </a:xfrm>
        </p:spPr>
        <p:txBody>
          <a:bodyPr anchor="t">
            <a:normAutofit/>
          </a:bodyPr>
          <a:lstStyle/>
          <a:p>
            <a:r>
              <a:rPr lang="en-US" sz="2800" dirty="0"/>
              <a:t>Research Questions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858295"/>
            <a:ext cx="3400732" cy="480797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What patterns can we find in retail sales data that help us understand which products customers buy the most?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Are the products that generate high sales also the ones that bring the most profit to the business?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How do discounts affect profitability, and do higher discounts reduce overall profit?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Do sales change over time or differ across regions, and what might explain those differences?</a:t>
            </a:r>
          </a:p>
        </p:txBody>
      </p:sp>
      <p:pic>
        <p:nvPicPr>
          <p:cNvPr id="5" name="Picture 4" descr="Abstract blurred background of department store">
            <a:extLst>
              <a:ext uri="{FF2B5EF4-FFF2-40B4-BE49-F238E27FC236}">
                <a16:creationId xmlns:a16="http://schemas.microsoft.com/office/drawing/2014/main" id="{2D2FB63A-DBAB-5895-F021-C01128F80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69" r="32081" b="-1"/>
          <a:stretch>
            <a:fillRect/>
          </a:stretch>
        </p:blipFill>
        <p:spPr>
          <a:xfrm>
            <a:off x="4238244" y="10"/>
            <a:ext cx="49057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3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036"/>
            <a:ext cx="3064248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Data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966452"/>
            <a:ext cx="3666744" cy="417593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The dataset used is the Sample Superstore retail dataset.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It contains around 10,000 sales transactions.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Important fields include: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- Order Date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- Sales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- Profit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- Discount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- Category and Sub‑Category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- Region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EE4C364F-961E-F5D4-0613-BB5E9B515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60" r="29491" b="-1"/>
          <a:stretch>
            <a:fillRect/>
          </a:stretch>
        </p:blipFill>
        <p:spPr>
          <a:xfrm>
            <a:off x="4238244" y="10"/>
            <a:ext cx="49057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5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3" y="649480"/>
            <a:ext cx="5270835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Python was used for the analysis.</a:t>
            </a:r>
          </a:p>
          <a:p>
            <a:endParaRPr lang="en-US" sz="1700" dirty="0"/>
          </a:p>
          <a:p>
            <a:r>
              <a:rPr lang="en-US" sz="1700" dirty="0"/>
              <a:t>Steps followed: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dirty="0"/>
              <a:t>    1.  Load the dataset using Pandas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    2.  Clean and prepare the data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    3.  Group and summarize sales information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    4.  Create charts using Matplotlib to visualize patterns.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707894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739835"/>
            <a:ext cx="3028336" cy="9813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Profit by Sub-Category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D8B0E-259D-2CF0-6BBC-9D10ED3B9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4968" y="1946787"/>
            <a:ext cx="3382297" cy="473914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Copiers are the most profitable sub-category, generating significantly more profit than any other item.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Tables are the primary source of financial loss, with a negative profit exceeding -$15,000, followed by smaller losses in Bookcases and Supplies.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High-tech and high-volume office essentials (Phones, Accessories, and Paper) drive the bulk of the positive margins, while smaller hardware like Fasteners and Labels contribute the least to the bottom line.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BD3905-7F79-A11C-94E4-494EEEB0E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9268" y="1868128"/>
            <a:ext cx="5167079" cy="30873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6"/>
            <a:ext cx="2776935" cy="12167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Monthly Sales Trend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254059-2074-35A0-A751-124D84E87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477" y="2241756"/>
            <a:ext cx="3480620" cy="423770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The business shows a strong long-term expansion, with the baseline for sales moving from roughly $15,000 in early 2013 to over $80,000 by late 2016.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There is a clear seasonal pattern where sales spike drastically in the final quarter of every year, specifically November and December, likely due to holiday demand or year-end budget spending.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Almost every growth peak is followed by a significant "reset" or dip in January and February, indicating a cyclical "cooling off" period before the next growth phase begins.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E614FBA-13B2-3B3A-84CE-600FE9D31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9268" y="1868128"/>
            <a:ext cx="5183534" cy="3097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6"/>
            <a:ext cx="2776935" cy="9920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Discount vs Profit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D18DD-A02C-D0E1-DFB6-9C13309CE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6142" y="2182762"/>
            <a:ext cx="3421626" cy="44540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There is a clear downward trend where increasing discounts lead to lower profits, with the highest profit margins occurring at 0.0 discount.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Profits consistently drop below zero once discounts exceed 0.2, indicating that high discounts frequently result in net losses for the business.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Discounts of 0.5 or higher show the most extreme negative outliers, with losses reaching as low as -$6,000 to -$8,000.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D44DFE-8062-CE52-9F76-5F8D95449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9268" y="1868129"/>
            <a:ext cx="5232902" cy="31266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E2D579-AA75-3819-F93C-A38928EF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07953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Sales vs Profit </a:t>
            </a:r>
            <a:br>
              <a:rPr lang="en-US" sz="2800" b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5554D-9FB5-69AB-F8EA-E5DB7F419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6981" y="2015613"/>
            <a:ext cx="3431458" cy="4660489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Most data points cluster in a way that suggests as sales increase, profit tends to increase as well, with the highest profit exceeding $8,000 at a high sales volume.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While higher sales can lead to higher profits, the "spread" of the data widens as sales increase; larger transactions carry a higher risk of significant losses, as seen by the extreme negative outlier near the $5,000 sales mark.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Extremely high sales (e.g., above $20,000) do not guarantee high profit, as evidenced by the point on the far right which resulted in a net loss of approximately $2,000.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E9B639-C387-8EE6-7C6E-3962D5A5C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8636" y="1897626"/>
            <a:ext cx="5175364" cy="309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24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6"/>
            <a:ext cx="2776935" cy="11872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Sales by Region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4538E-ED97-1248-1B38-BD582BD16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476" y="2054942"/>
            <a:ext cx="3510117" cy="468998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The West region is the top performer with over $700,000 in total sales, followed by the East, Central, and South regions respectively.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There is a substantial difference in revenue across territories, as sales in the West are nearly double those of the South region.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The East and West regions combined account for the  vast majority of total revenue, indicating these are the primary growth drivers for the business.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9E4B7E-40E5-2EEE-FA27-352B718DC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6359" y="1848465"/>
            <a:ext cx="5183534" cy="3097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167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Sales by Category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729C0-F587-C8D4-6799-0D938C044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613" y="2074606"/>
            <a:ext cx="2776934" cy="4591665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The Technology category is the clear leader in revenue, generating over $800,000 in total sales.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Furniture and Office Supplies are closely matched, with both categories contributing between $700,000 and $750,000 each.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While Technology leads, the relatively small gap between the three categories suggests a well-diversified product mix rather than reliance on a single niche.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988BCFE-4FCD-850B-EAF0-5BE72A39A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5092" y="1907458"/>
            <a:ext cx="5101256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/>
              <a:t>Some product categories generate higher sales, but high sales do not always lead to high profit.</a:t>
            </a:r>
          </a:p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</a:pPr>
            <a:r>
              <a:rPr lang="en-US" sz="1700"/>
              <a:t>Higher discounts often reduce profitability even if they increase sales.</a:t>
            </a:r>
          </a:p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</a:pPr>
            <a:r>
              <a:rPr lang="en-US" sz="1700"/>
              <a:t>Sales patterns vary over time and across regions, showing differences in customer demand and market performance.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63CD747D-697C-19CA-6534-07B7274D9E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50" r="2010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E40406-2693-68EC-0599-E3B32931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324" y="1146412"/>
            <a:ext cx="6760761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4374554"/>
            <a:ext cx="9144005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4374554"/>
            <a:ext cx="3038508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9143988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4380927"/>
            <a:ext cx="9144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7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808</Words>
  <Application>Microsoft Office PowerPoint</Application>
  <PresentationFormat>On-screen Show (4:3)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Sales Data Visualization Analysis  Week 8 Final Project  </vt:lpstr>
      <vt:lpstr>Problem / Situation</vt:lpstr>
      <vt:lpstr>Research Questions</vt:lpstr>
      <vt:lpstr>Data</vt:lpstr>
      <vt:lpstr>Methodology</vt:lpstr>
      <vt:lpstr>Profit by Sub-Category</vt:lpstr>
      <vt:lpstr>Monthly Sales Trend</vt:lpstr>
      <vt:lpstr>Discount vs Profit</vt:lpstr>
      <vt:lpstr>Sales vs Profit  </vt:lpstr>
      <vt:lpstr>Sales by Region</vt:lpstr>
      <vt:lpstr>Total Sales by Category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Visualization Analysis</dc:title>
  <dc:subject/>
  <dc:creator>Rabin Acharya</dc:creator>
  <cp:keywords/>
  <dc:description>generated using python-pptx</dc:description>
  <cp:lastModifiedBy>Dahal, Prakriti</cp:lastModifiedBy>
  <cp:revision>36</cp:revision>
  <dcterms:created xsi:type="dcterms:W3CDTF">2013-01-27T09:14:16Z</dcterms:created>
  <dcterms:modified xsi:type="dcterms:W3CDTF">2026-03-07T02:55:41Z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2026-03-06T22:15:45Z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05365db6-0c23-48ca-b101-b275eb25f2e6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10, 3, 0, 1</vt:lpwstr>
  </property>
</Properties>
</file>